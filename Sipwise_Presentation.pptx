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0" y="-457200"/>
            <a:ext cx="4572000" cy="3657600"/>
          </a:xfrm>
          <a:prstGeom prst="rect">
            <a:avLst/>
          </a:prstGeom>
          <a:solidFill>
            <a:srgbClr val="AB4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3657600"/>
            <a:ext cx="4572000" cy="4572000"/>
          </a:xfrm>
          <a:prstGeom prst="rect">
            <a:avLst/>
          </a:prstGeom>
          <a:solidFill>
            <a:srgbClr val="1A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6F3D"/>
                </a:solidFill>
              </a:rPr>
              <a:t>PERSONALIZED PARTY DRINK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Sipwise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4C8BC"/>
                </a:solidFill>
              </a:rPr>
              <a:t>AI-Powered Drink &amp; Party Planning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7B70"/>
                </a:solidFill>
              </a:rPr>
              <a:t>Built with  Next.js · TypeScript · OpenAI · 5,000+ Drink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117"/>
                </a:solidFill>
              </a:rPr>
              <a:t>Planning a party with alcohol is complicated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64240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117"/>
                </a:solidFill>
              </a:rPr>
              <a:t>Which brands are even available in my city?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64240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117"/>
                </a:solidFill>
              </a:rPr>
              <a:t>Guests have allergies, dislikes, and different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117"/>
                </a:solidFill>
              </a:rPr>
              <a:t>Too little or too much — no safe pacing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117"/>
                </a:solidFill>
              </a:rPr>
              <a:t>Generic internet suggestions aren't personalized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WHAT IS SIPWISE?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D2117"/>
                </a:solidFill>
              </a:rPr>
              <a:t>One Prompt → Full Party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36576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F5C4D"/>
                </a:solidFill>
              </a:rPr>
              <a:t>You describe your party in plain English. Sipwise responds with curated drink picks, a safe pacing timeline, and regionally-available alternatives — all personalised for every guest.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117"/>
                </a:solidFill>
              </a:rPr>
              <a:t>🍸  3 Curated Drink Picks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950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Matched to group tastes, budget &amp;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70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117"/>
                </a:solidFill>
              </a:rPr>
              <a:t>⏱️  Safe Pacing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Water breaks, low-ABV transitions, wind-down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755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117"/>
                </a:solidFill>
              </a:rPr>
              <a:t>🌏  Regional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559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Locally-available fallback for every pick</a:t>
            </a:r>
          </a:p>
        </p:txBody>
      </p:sp>
      <p:pic>
        <p:nvPicPr>
          <p:cNvPr id="13" name="Picture 12" descr="successful_ai_suggestions_1775244162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0"/>
            <a:ext cx="4206240" cy="5486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011680" cy="5303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2117"/>
                </a:solidFill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2117"/>
                </a:solidFill>
              </a:rPr>
              <a:t>Start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6F3D"/>
                </a:solidFill>
              </a:rPr>
              <a:t>/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80360"/>
            <a:ext cx="1005840" cy="36576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5C4D"/>
                </a:solidFill>
              </a:rPr>
              <a:t>Type your party prompt and get AI suggestions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097280"/>
            <a:ext cx="2011680" cy="5303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2117"/>
                </a:solidFill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2117"/>
                </a:solidFill>
              </a:rPr>
              <a:t>My Taste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6F3D"/>
                </a:solidFill>
              </a:rPr>
              <a:t>/contacts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880360"/>
            <a:ext cx="1005840" cy="36576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5C4D"/>
                </a:solidFill>
              </a:rPr>
              <a:t>Manage your profile and unlimited guest 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97280"/>
            <a:ext cx="2011680" cy="5303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2117"/>
                </a:solidFill>
              </a:rPr>
              <a:t>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2117"/>
                </a:solidFill>
              </a:rPr>
              <a:t>Party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6F3D"/>
                </a:solidFill>
              </a:rPr>
              <a:t>/drafts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880360"/>
            <a:ext cx="1005840" cy="36576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0632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5C4D"/>
                </a:solidFill>
              </a:rPr>
              <a:t>Set event name, date, city, people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097280"/>
            <a:ext cx="2011680" cy="5303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2117"/>
                </a:solidFill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2117"/>
                </a:solidFill>
              </a:rPr>
              <a:t>Party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6F3D"/>
                </a:solidFill>
              </a:rPr>
              <a:t>/itinerary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880360"/>
            <a:ext cx="1005840" cy="36576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30632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5C4D"/>
                </a:solidFill>
              </a:rPr>
              <a:t>View AI-generated drink timeline for the night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1097280"/>
            <a:ext cx="2011680" cy="5303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2117"/>
                </a:solidFill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2117"/>
                </a:solidFill>
              </a:rPr>
              <a:t>Local Picks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6F3D"/>
                </a:solidFill>
              </a:rPr>
              <a:t>/settings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2880360"/>
            <a:ext cx="1005840" cy="36576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0632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5C4D"/>
                </a:solidFill>
              </a:rPr>
              <a:t>Enter your OpenAI API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FEATURE: MULTI-PROFILE GUEST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117"/>
                </a:solidFill>
              </a:rPr>
              <a:t>Every guest. Every preference. All balanced.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45720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117"/>
                </a:solidFill>
              </a:rPr>
              <a:t>Per-profile settings: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5C4D"/>
                </a:solidFill>
              </a:rPr>
              <a:t>• Name  (e.g. Alice, Bob, Charlie)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5C4D"/>
                </a:solidFill>
              </a:rPr>
              <a:t>• Taste Preferences  (Citrus, Sweet, Bubbly, Light, Herbal…)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112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5C4D"/>
                </a:solidFill>
              </a:rPr>
              <a:t>• Allergy Notes  (gluten, dairy, nuts…)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86783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5C4D"/>
                </a:solidFill>
              </a:rPr>
              <a:t>• Alcohol Tolerance  (Low / Medium / High)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6227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5C4D"/>
                </a:solidFill>
              </a:rPr>
              <a:t>• Budget Tier  (Value / Mid / Premium)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5C4D"/>
                </a:solidFill>
              </a:rPr>
              <a:t>• Categories to Avoid  (Whiskey, Gin, Tequila…)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26F3D"/>
                </a:solidFill>
              </a:rPr>
              <a:t>✅  Profiles persist in localStorage — no login required.</a:t>
            </a:r>
          </a:p>
        </p:txBody>
      </p:sp>
      <p:pic>
        <p:nvPicPr>
          <p:cNvPr id="14" name="Picture 13" descr="multi_guest_tabs_1775244919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05840"/>
            <a:ext cx="4937760" cy="5486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FEATURE: STRICT REGIONAL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2117"/>
                </a:solidFill>
              </a:rPr>
              <a:t>The right drink for the right 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41148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6400800" cy="777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🇮🇳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117"/>
                </a:solidFill>
              </a:rPr>
              <a:t>Mumbai /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Royal Stag · Sula · Old Monk · Bira 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6400800" cy="777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🇺🇸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117"/>
                </a:solidFill>
              </a:rPr>
              <a:t>Miami / 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Tito's Vodka · Bud Light · Jack Daniel's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6400800" cy="777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🇧🇷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117"/>
                </a:solidFill>
              </a:rPr>
              <a:t>Brazil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Cachaça · Brahma · local beach staples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6400800" cy="777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117"/>
                </a:solidFill>
              </a:rPr>
              <a:t>Global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57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Well-known international brands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B4D21"/>
                </a:solidFill>
              </a:rPr>
              <a:t>❌  Completely blocks out-of-region brands from appearing in results.</a:t>
            </a:r>
          </a:p>
        </p:txBody>
      </p:sp>
      <p:pic>
        <p:nvPicPr>
          <p:cNvPr id="23" name="Picture 22" descr="definitive_miami_verification_1775242012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4480560" cy="53035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DATA: 5,000+ DRINK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</a:rPr>
              <a:t>5,000+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4C8BC"/>
                </a:solidFill>
              </a:rPr>
              <a:t>Curated Alcohol Entries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27432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Catalog Fields: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Bacardi Breezer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39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739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Rum / Cooler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422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ABV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142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Price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544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46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Country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9469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Taste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Fruity, Sweet, Tropical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51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Allergen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751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Contains gluten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53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C8BC"/>
                </a:solidFill>
              </a:rPr>
              <a:t>Low ABV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6153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6F3D"/>
                </a:solidFill>
              </a:rPr>
              <a:t>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731520"/>
            <a:ext cx="4846320" cy="5760720"/>
          </a:xfrm>
          <a:prstGeom prst="rect">
            <a:avLst/>
          </a:prstGeom>
          <a:solidFill>
            <a:srgbClr val="241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868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CSV → JSON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417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 Load alcohol_5000_taste_node.csv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 Normalize ABV, country, brand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 Parse tasteNotes from comma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 Map priceTier (Budget→Value, etc.)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794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 Set lowAbv flag (ABV ≤ 12.5%)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891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6.  Merge into alcohol-catalog.json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AI ARCHITECTURE: RANKING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117"/>
                </a:solidFill>
              </a:rPr>
              <a:t>Smart pre-ranking. Then AI narration.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10512"/>
            <a:ext cx="45720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117"/>
                </a:solidFill>
              </a:rPr>
              <a:t>Scoring Factors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Taste match (user + all guests)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5420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26F3D"/>
                </a:solidFill>
              </a:rPr>
              <a:t>+2 – 5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08376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Both user AND a guest prefer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358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26F3D"/>
                </a:solidFill>
              </a:rPr>
              <a:t>+4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02152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95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Regional origin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5295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26F3D"/>
                </a:solidFill>
              </a:rPr>
              <a:t>+10 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95928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Allergy conflict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C4422"/>
                </a:solidFill>
              </a:rPr>
              <a:t>−100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9704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17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Disliked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5171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C4422"/>
                </a:solidFill>
              </a:rPr>
              <a:t>−50 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80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109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Low ABV (if low-abv mode 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010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26F3D"/>
                </a:solidFill>
              </a:rPr>
              <a:t>+3 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77256"/>
            <a:ext cx="5029200" cy="420624"/>
          </a:xfrm>
          <a:prstGeom prst="rect">
            <a:avLst/>
          </a:prstGeom>
          <a:solidFill>
            <a:srgbClr val="FFFCF7"/>
          </a:solidFill>
          <a:ln w="12700">
            <a:solidFill>
              <a:srgbClr val="E8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04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117"/>
                </a:solidFill>
              </a:rPr>
              <a:t>Budget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046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26F3D"/>
                </a:solidFill>
              </a:rPr>
              <a:t>+1 – 2 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188720"/>
            <a:ext cx="5120640" cy="5303520"/>
          </a:xfrm>
          <a:prstGeom prst="rect">
            <a:avLst/>
          </a:prstGeom>
          <a:solidFill>
            <a:srgbClr val="F7ECDF"/>
          </a:solidFill>
          <a:ln w="12700">
            <a:solidFill>
              <a:srgbClr val="D2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41732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2117"/>
                </a:solidFill>
              </a:rPr>
              <a:t>User Prompt + All Profiles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88366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26F3D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35000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117"/>
                </a:solidFill>
              </a:rPr>
              <a:t>Score 5,000+ catalog drinks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8163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26F3D"/>
                </a:solidFill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8269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117"/>
                </a:solidFill>
              </a:rPr>
              <a:t>Pick top 12 candidates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749039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26F3D"/>
                </a:solidFill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21538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117"/>
                </a:solidFill>
              </a:rPr>
              <a:t>Send to GPT-4o-mini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68172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26F3D"/>
                </a:solidFill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14807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117"/>
                </a:solidFill>
              </a:rPr>
              <a:t>Returns 3 Suggestions 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61441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117"/>
                </a:solidFill>
              </a:rPr>
              <a:t>Summary + Timeline + Tips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117"/>
                </a:solidFill>
              </a:rPr>
              <a:t>Built for performance &amp; simplicity.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36576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03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🔲 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7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Next.js 14  (App Router)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09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🔵 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⚛️ 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99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React Context + localStorage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6636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212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🤖 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05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OpenAI GPT-4o-mini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203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🎨  Styling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87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Vanilla CSS  (Glassmorphism)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5468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209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✅ 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93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Zod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160520"/>
            <a:ext cx="5486400" cy="822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5C4D"/>
                </a:solidFill>
              </a:rPr>
              <a:t>🍸  Drink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599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117"/>
                </a:solidFill>
              </a:rPr>
              <a:t>Custom JSON (CSV → 5,000+)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FEATURE: MOBILE-FIRST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117"/>
                </a:solidFill>
              </a:rPr>
              <a:t>App-like. Smooth. Always on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10512"/>
            <a:ext cx="36576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Hamburger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Animated icon transforms into ✕ when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🌫️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99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Glassmorphism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Blurred overlay, soft backdrop — premium 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Auto-Close on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Menu closes the moment a link is clicked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45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Sticky 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29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Always visible at top as you scroll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117"/>
                </a:solidFill>
              </a:rP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681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Page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8521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5C4D"/>
                </a:solidFill>
              </a:rPr>
              <a:t>Active page is clearly highlighted in the menu</a:t>
            </a:r>
          </a:p>
        </p:txBody>
      </p:sp>
      <p:pic>
        <p:nvPicPr>
          <p:cNvPr id="21" name="Picture 20" descr="expanded_navigation_menu_1775245651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480560" cy="5486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F3D"/>
                </a:solidFill>
              </a:rPr>
              <a:t>WHAT MAKES SIPWISE UNIQUE?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960120"/>
          </a:xfrm>
          <a:prstGeom prst="rect">
            <a:avLst/>
          </a:prstGeom>
          <a:solidFill>
            <a:srgbClr val="24160D"/>
          </a:solidFill>
          <a:ln w="12700">
            <a:solidFill>
              <a:srgbClr val="D2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247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 just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361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BC"/>
                </a:solidFill>
              </a:rPr>
              <a:t>The AI works WITH a pre-built scoring engine, not in isolation.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30552"/>
            <a:ext cx="11247120" cy="960120"/>
          </a:xfrm>
          <a:prstGeom prst="rect">
            <a:avLst/>
          </a:prstGeom>
          <a:solidFill>
            <a:srgbClr val="24160D"/>
          </a:solidFill>
          <a:ln w="12700">
            <a:solidFill>
              <a:srgbClr val="D2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037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Multi-person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1518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BC"/>
                </a:solidFill>
              </a:rPr>
              <a:t>Most apps are single-user. Sipwise balances constraints for an entire group simultaneously.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9544"/>
            <a:ext cx="11247120" cy="960120"/>
          </a:xfrm>
          <a:prstGeom prst="rect">
            <a:avLst/>
          </a:prstGeom>
          <a:solidFill>
            <a:srgbClr val="24160D"/>
          </a:solidFill>
          <a:ln w="12700">
            <a:solidFill>
              <a:srgbClr val="D2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1927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82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Regional-first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94176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BC"/>
                </a:solidFill>
              </a:rPr>
              <a:t>Suggestions respect local availability — Miami ≠ Mumbai ≠ Brazil.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88536"/>
            <a:ext cx="11247120" cy="960120"/>
          </a:xfrm>
          <a:prstGeom prst="rect">
            <a:avLst/>
          </a:prstGeom>
          <a:solidFill>
            <a:srgbClr val="24160D"/>
          </a:solidFill>
          <a:ln w="12700">
            <a:solidFill>
              <a:srgbClr val="D2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98264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616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Safe hosting built-in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73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BC"/>
                </a:solidFill>
              </a:rPr>
              <a:t>Water cadence, low-ABV mode, and quantity guidance make it a responsible host tool.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67527"/>
            <a:ext cx="11247120" cy="960120"/>
          </a:xfrm>
          <a:prstGeom prst="rect">
            <a:avLst/>
          </a:prstGeom>
          <a:solidFill>
            <a:srgbClr val="24160D"/>
          </a:solidFill>
          <a:ln w="12700">
            <a:solidFill>
              <a:srgbClr val="D2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477255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2117"/>
                </a:solidFill>
              </a:rPr>
              <a:t>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406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Offline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85215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BC"/>
                </a:solidFill>
              </a:rPr>
              <a:t>All profiles &amp; settings saved locally. No login, no server dependency.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2117"/>
                </a:solidFill>
              </a:rPr>
              <a:t>Where Sipwise can go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3657600" cy="45720"/>
          </a:xfrm>
          <a:prstGeom prst="rect">
            <a:avLst/>
          </a:prstGeom>
          <a:solidFill>
            <a:srgbClr val="D2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548640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117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000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Vector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16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Semantic drink search for smarter, fuzzy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40280"/>
            <a:ext cx="548640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4144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117"/>
                </a:solidFill>
              </a:rPr>
              <a:t>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5000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Shareable Party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816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Export as a PDF or send a party-plan link to guests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48640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5876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117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6732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QR Code for Guests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336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Guests scan a QR to submit their own preferences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548640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117"/>
                </a:solidFill>
              </a:rPr>
              <a:t>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6732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Mocktail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336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Fully non-alcoholic recommendation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74920"/>
            <a:ext cx="548640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7608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117"/>
                </a:solidFill>
              </a:rP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846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Budget Calculator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509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Estimate total spend for the entire party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074920"/>
            <a:ext cx="548640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0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27608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117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1846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117"/>
                </a:solidFill>
              </a:rPr>
              <a:t>Multi-language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6509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5C4D"/>
                </a:solidFill>
              </a:rPr>
              <a:t>Serve global markets with translated suggestions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F5C4D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0" y="-457200"/>
            <a:ext cx="6400800" cy="8229600"/>
          </a:xfrm>
          <a:prstGeom prst="rect">
            <a:avLst/>
          </a:prstGeom>
          <a:solidFill>
            <a:srgbClr val="AB4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4C8BC"/>
                </a:solidFill>
              </a:rPr>
              <a:t>Questions &amp;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45720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7B70"/>
                </a:solidFill>
              </a:rPr>
              <a:t>Sipwise  ·  Next.js · TypeScript · OpenAI · 5,000+ Drinks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